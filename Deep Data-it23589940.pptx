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63" r:id="rId13"/>
    <p:sldId id="270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Confidence (%)</c:v>
                </c:pt>
              </c:strCache>
            </c:strRef>
          </c:tx>
          <c:spPr>
            <a:solidFill>
              <a:srgbClr val="EA6A4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A6A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03-4859-8E57-74DD7E13D08B}"/>
              </c:ext>
            </c:extLst>
          </c:dPt>
          <c:dPt>
            <c:idx val="1"/>
            <c:invertIfNegative val="0"/>
            <c:bubble3D val="0"/>
            <c:spPr>
              <a:solidFill>
                <a:srgbClr val="F7A5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03-4859-8E57-74DD7E13D08B}"/>
              </c:ext>
            </c:extLst>
          </c:dPt>
          <c:dPt>
            <c:idx val="2"/>
            <c:invertIfNegative val="0"/>
            <c:bubble3D val="0"/>
            <c:spPr>
              <a:solidFill>
                <a:srgbClr val="488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03-4859-8E57-74DD7E13D08B}"/>
              </c:ext>
            </c:extLst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03-4859-8E57-74DD7E13D08B}"/>
              </c:ext>
            </c:extLst>
          </c:dPt>
          <c:dPt>
            <c:idx val="4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03-4859-8E57-74DD7E13D0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Level 1
(Ad-hoc)</c:v>
                </c:pt>
                <c:pt idx="1">
                  <c:v>Level 2
(Developing)</c:v>
                </c:pt>
                <c:pt idx="2">
                  <c:v>Level 3
(Defined)</c:v>
                </c:pt>
                <c:pt idx="3">
                  <c:v>Level 4
(Managed)</c:v>
                </c:pt>
                <c:pt idx="4">
                  <c:v>Level 5
(Optimized)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29.9</c:v>
                </c:pt>
                <c:pt idx="1">
                  <c:v>48.3</c:v>
                </c:pt>
                <c:pt idx="2">
                  <c:v>66.400000000000006</c:v>
                </c:pt>
                <c:pt idx="3">
                  <c:v>86.3</c:v>
                </c:pt>
                <c:pt idx="4">
                  <c:v>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03-4859-8E57-74DD7E13D0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F3A"/>
                </a:solidFill>
                <a:latin typeface="Arial"/>
              </a:rPr>
              <a:t>Test R² Score — 5 Models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F6-4BFF-B10E-A8446715AFA6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F6-4BFF-B10E-A8446715AFA6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F6-4BFF-B10E-A8446715AFA6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4F6-4BFF-B10E-A8446715AFA6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F6-4BFF-B10E-A8446715AF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Multiple Linear
Regression</c:v>
                </c:pt>
                <c:pt idx="1">
                  <c:v>Ridge
Regression</c:v>
                </c:pt>
                <c:pt idx="2">
                  <c:v>Decision
Tree</c:v>
                </c:pt>
                <c:pt idx="3">
                  <c:v>Random
Forest</c:v>
                </c:pt>
                <c:pt idx="4">
                  <c:v>Gradient
Boosting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0.91139999999999999</c:v>
                </c:pt>
                <c:pt idx="1">
                  <c:v>0.90980000000000005</c:v>
                </c:pt>
                <c:pt idx="2">
                  <c:v>0.8921</c:v>
                </c:pt>
                <c:pt idx="3">
                  <c:v>0.90869999999999995</c:v>
                </c:pt>
                <c:pt idx="4">
                  <c:v>0.91020000000000001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F6-4BFF-B10E-A8446715AF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8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B1F3A"/>
                </a:solidFill>
                <a:latin typeface="Arial"/>
              </a:rPr>
              <a:t>MAE — Mean Absolute Error (lower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(pts)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D6-412B-AB01-BD1520B485F1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D6-412B-AB01-BD1520B485F1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D6-412B-AB01-BD1520B485F1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7D6-412B-AB01-BD1520B485F1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7D6-412B-AB01-BD1520B485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MLR</c:v>
                </c:pt>
                <c:pt idx="1">
                  <c:v>Ridge</c:v>
                </c:pt>
                <c:pt idx="2">
                  <c:v>Dec. Tree</c:v>
                </c:pt>
                <c:pt idx="3">
                  <c:v>Rnd Forest</c:v>
                </c:pt>
                <c:pt idx="4">
                  <c:v>Grad. 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5.41</c:v>
                </c:pt>
                <c:pt idx="1">
                  <c:v>5.52</c:v>
                </c:pt>
                <c:pt idx="2">
                  <c:v>6.83</c:v>
                </c:pt>
                <c:pt idx="3">
                  <c:v>5.28</c:v>
                </c:pt>
                <c:pt idx="4">
                  <c:v>5.36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D6-412B-AB01-BD1520B485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F3A"/>
                </a:solidFill>
                <a:latin typeface="Arial"/>
              </a:rPr>
              <a:t>Test R² Score — 5 Models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8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B1F3A"/>
                </a:solidFill>
                <a:latin typeface="Arial"/>
              </a:rPr>
              <a:t>MAE — Mean Absolute Error (lower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F3A"/>
                </a:solidFill>
                <a:latin typeface="Arial"/>
              </a:rPr>
              <a:t>Feature Importance — Random Forest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Real-Time Data Access</c:v>
                </c:pt>
                <c:pt idx="1">
                  <c:v>Data Maturity Level</c:v>
                </c:pt>
                <c:pt idx="2">
                  <c:v>KPI Review Frequency</c:v>
                </c:pt>
                <c:pt idx="3">
                  <c:v>Strategic Plan Cycle</c:v>
                </c:pt>
                <c:pt idx="4">
                  <c:v>BI Dashboard Usage</c:v>
                </c:pt>
                <c:pt idx="5">
                  <c:v>Data Literacy Score</c:v>
                </c:pt>
                <c:pt idx="6">
                  <c:v>Exec Training Hours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0.26600000000000001</c:v>
                </c:pt>
                <c:pt idx="1">
                  <c:v>0.25800000000000001</c:v>
                </c:pt>
                <c:pt idx="2">
                  <c:v>0.16800000000000001</c:v>
                </c:pt>
                <c:pt idx="3">
                  <c:v>0.16200000000000001</c:v>
                </c:pt>
                <c:pt idx="4">
                  <c:v>0.08</c:v>
                </c:pt>
                <c:pt idx="5">
                  <c:v>4.2000000000000003E-2</c:v>
                </c:pt>
                <c:pt idx="6">
                  <c:v>2.4E-2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23-4C2F-9739-5EBD0C777B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746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5F17-6FF1-82B2-C1D0-35CC9457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6D0B2-B53E-2A26-41F4-B2FF3BEB3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EB5E0-006F-916F-4817-DF0143379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4642C-DB35-B60D-CE6A-DD3363409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450D-4156-702F-D05B-241B41AE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5CF13-5DB7-1ED4-A3C5-878B5E43E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C2501-2C62-F60F-C9EB-CC1BE962D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35C28-4535-237D-EDEF-CB25B888F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6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3A72-C2A0-2EFD-8B84-F4EE6242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8E7C9-0E65-50A9-C5C1-FB4410589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E8DA9-93DF-1B3C-958C-CA56AA16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69A78-464C-ECDF-A9DA-2EA158742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10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9354-EBED-AFC9-9AE0-D2F5E917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B0F2F-7CD6-9CF9-02CF-30EFF4BB1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9021-D1A4-061B-E920-DD6DFACFF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BB42A-22F0-8F70-286A-3C3073A72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40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9A79-0066-D169-F4DD-73252FA9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F88CD-E313-3880-D5FD-F86154B6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35EF8-4465-B38A-BE84-84055CCA7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5062F-0D90-CBDD-EED4-2CDB8750E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74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quantumblack/our-insights/the-age-of-analytics-competing-in-a-data-driven-worl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0"/>
            <a:ext cx="1554480" cy="1005840"/>
          </a:xfrm>
          <a:prstGeom prst="rect">
            <a:avLst/>
          </a:prstGeom>
          <a:solidFill>
            <a:srgbClr val="14FFEC">
              <a:alpha val="45000"/>
            </a:srgbClr>
          </a:solidFill>
          <a:ln w="12700">
            <a:solidFill>
              <a:srgbClr val="14FF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Decision Making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D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Improves Organizational Confidence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8D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Business Strategies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3474720" cy="36576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74852" y="3291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101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dirty="0">
                <a:solidFill>
                  <a:schemeClr val="bg1"/>
                </a:solidFill>
              </a:rPr>
              <a:t>🔗 </a:t>
            </a:r>
            <a:r>
              <a:rPr lang="en-US" sz="1100" b="1" dirty="0">
                <a:solidFill>
                  <a:schemeClr val="bg1"/>
                </a:solidFill>
              </a:rPr>
              <a:t>Link: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b="1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https://www.mckinsey.com/capabilities/quantumblack/our-insights/</a:t>
            </a:r>
            <a:r>
              <a:rPr lang="en-US" sz="11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the-age-of-analytics-competing-in-a-data-driven-world</a:t>
            </a:r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 err="1">
                <a:solidFill>
                  <a:schemeClr val="bg1"/>
                </a:solidFill>
              </a:rPr>
              <a:t>Mckinsey</a:t>
            </a:r>
            <a:r>
              <a:rPr lang="en-US" sz="1100" b="1" dirty="0">
                <a:solidFill>
                  <a:schemeClr val="bg1"/>
                </a:solidFill>
              </a:rPr>
              <a:t> and company Industry 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Henke, N., </a:t>
            </a:r>
            <a:r>
              <a:rPr lang="en-US" sz="1100" dirty="0" err="1">
                <a:solidFill>
                  <a:schemeClr val="bg1"/>
                </a:solidFill>
              </a:rPr>
              <a:t>Bughin</a:t>
            </a:r>
            <a:r>
              <a:rPr lang="en-US" sz="1100" dirty="0">
                <a:solidFill>
                  <a:schemeClr val="bg1"/>
                </a:solidFill>
              </a:rPr>
              <a:t>, J., Chui, M., Manyika, J., Saleh, T., Wiseman, B., &amp; Sethupathy, G.</a:t>
            </a:r>
            <a:endParaRPr lang="en-US" sz="11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659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Companies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931920"/>
            <a:ext cx="19659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931920"/>
            <a:ext cx="19659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Analytics Types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868680"/>
          </a:xfrm>
          <a:prstGeom prst="rect">
            <a:avLst/>
          </a:prstGeom>
          <a:solidFill>
            <a:srgbClr val="E6F7F7"/>
          </a:solidFill>
          <a:ln w="635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6400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"Data-driven decision making improves organizational confidence in business strategies"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2743200" cy="260604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27432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rely on intuition over data, creating strategic uncertainty and inconsistent decision quality.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212848"/>
            <a:ext cx="2743200" cy="260604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2212848"/>
            <a:ext cx="27432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2212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adopting data-driven practices measurably increase confidence in business strategy?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212848"/>
            <a:ext cx="2743200" cy="260604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212848"/>
            <a:ext cx="27432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212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evidence is needed to justify investment in data tools, infrastructure, and training programs.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the Relationship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45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correlation between data maturity and confidence using Pearson correlation &amp; regression (r = +0.954, R² = 91%).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517904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Statistical Significance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645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ANOVA and t-tests to confirm observed differences are not due to chance (all results p &lt; 0.001).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3108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Predictive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49300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compare 5 ML models: Multiple Linear Regression, Ridge, Decision Tree, Random Forest, Gradient Boosting.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336499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3108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Key Drivers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349300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importance analysis to rank which data-driven factors most strongly predict organizational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31920" cy="3657600"/>
          </a:xfrm>
          <a:prstGeom prst="rect">
            <a:avLst/>
          </a:prstGeom>
          <a:solidFill>
            <a:srgbClr val="E6F7F7"/>
          </a:solidFill>
          <a:ln w="635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64008" cy="3657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following: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10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00+ companies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columns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Finance, Healthcare,
Retail, Manufacturing, Education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Medium, Large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70432"/>
            <a:ext cx="4297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Variables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664208"/>
            <a:ext cx="4297680" cy="365760"/>
          </a:xfrm>
          <a:prstGeom prst="rect">
            <a:avLst/>
          </a:prstGeom>
          <a:solidFill>
            <a:srgbClr val="F0F5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6824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Data_Maturity_Level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6824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predictor  (1–5)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048256"/>
            <a:ext cx="4297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20665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Org_Confidence_Score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0665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 (0–100%)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432304"/>
            <a:ext cx="4297680" cy="365760"/>
          </a:xfrm>
          <a:prstGeom prst="rect">
            <a:avLst/>
          </a:prstGeom>
          <a:solidFill>
            <a:srgbClr val="F0F5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4505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BI_Dashboard_Usage_Pct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4505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managers using BI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816352"/>
            <a:ext cx="4297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28346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Data_Literacy_Score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8346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literacy  (1–10)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200400"/>
            <a:ext cx="4297680" cy="365760"/>
          </a:xfrm>
          <a:prstGeom prst="rect">
            <a:avLst/>
          </a:prstGeom>
          <a:solidFill>
            <a:srgbClr val="F0F5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3218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Real_Time_Data_Access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218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 (Yes / No)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3584448"/>
            <a:ext cx="4297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360273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Dedicated_Data_Team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60273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 (Yes / No)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3968496"/>
            <a:ext cx="4297680" cy="365760"/>
          </a:xfrm>
          <a:prstGeom prst="rect">
            <a:avLst/>
          </a:prstGeom>
          <a:solidFill>
            <a:srgbClr val="F0F5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39867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KPI_Review_Frequency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9867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/ Monthly / Quarterly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4352544"/>
            <a:ext cx="4297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43708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Exec_Data_Training_Hrs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43708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hrs per year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35331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8288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(Industry, Company Size, KPI Frequency) converted to numeric using LabelEncoder for ML models.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10712" y="135331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071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8288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the dataset. All 1000 rows complete across all 18 variables — confirmed via summary() in 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17043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35331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80% training  20% testing (80 rows) using createDataPartition() to ensure balanced distribution.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" y="322783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209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7033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predictor variables selected from 18 columns. Company_ID, Annual_Revenue removed as non-predictive identifiers.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449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10712" y="322783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209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0712" y="37033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for tree-based models. Applied implicitly for Ridge Regression via glmnet package's internal standardisation.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30449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322783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0568" y="3209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70332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set.seed(42) applied before all splits and model training to ensure consistent, reproducible results.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109728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43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73936"/>
            <a:ext cx="20116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Org.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2011680" cy="109728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43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773936"/>
            <a:ext cx="20116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 (1–5)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2011680" cy="109728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243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56.3%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773936"/>
            <a:ext cx="20116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2011680" cy="109728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243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14.5d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773936"/>
            <a:ext cx="20116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(days)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2423160"/>
          <a:ext cx="5486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2423160"/>
            <a:ext cx="2788920" cy="246888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72200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292608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companies: 29.9% confidence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companies: 99.3% confidence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+69.4 pt gap across maturity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= 22.8 — wide variation to explain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has minimal effect on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Inferential Analysis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80390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Was Tested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Result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p-value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Maturity vs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+0.954  (very strong +ve)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Maturity →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91%  |  +17.8 pts per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Maturity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1059  |  29.9% → 99.3%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+38.1 pt gap  (91.1% vs 53.0%)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Data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+20.3 pt gap  (77.9% vs 57.6%)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Review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1002  |  Weekly 91% vs Quarterly 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combined predictors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92.2%  |  Adj R² = 92.1%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5C562-E0B6-DF7A-9D43-87D2DB85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69FDAC-E207-B839-AC0C-9F242FC3DD87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ABB874-074F-A12F-366D-9D7141C501F0}"/>
              </a:ext>
            </a:extLst>
          </p:cNvPr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C594A8-C27D-4CAC-B6E2-DC6965D60882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Inferential Analysis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8B1A00-B068-53C4-17BC-29DA25D1E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750" y="1141940"/>
            <a:ext cx="5787504" cy="40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1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269DC-258F-30DC-1C50-2C108693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9FB82A-2D46-4CFF-C328-9F6A303D451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9AD2F1-1357-E28D-327B-C9E5C20CCA41}"/>
              </a:ext>
            </a:extLst>
          </p:cNvPr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8FADA9-256F-8B96-9970-85BE36D88C44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Inferential Analysis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AA154-094F-C929-4CFA-33853F9B3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55" y="1035666"/>
            <a:ext cx="6351255" cy="399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7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E185D-8969-25B4-204E-78408B0D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690FB-8FE5-EA0D-6E03-2CA4F5103E60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D65160-7B81-42CD-49F6-D539BF858348}"/>
              </a:ext>
            </a:extLst>
          </p:cNvPr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E3FB3A-26F5-22FD-6B30-427994AD3503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Inferential Analysis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B24AE-F694-9FE2-65AE-F4C2725F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42" y="1083852"/>
            <a:ext cx="6448334" cy="405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4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0F9B9-5486-3A31-D4BA-54E4A82A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63AA14-358D-D81E-2F30-7552B6280721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A4909C-F548-D47B-BC58-18297FA767BD}"/>
              </a:ext>
            </a:extLst>
          </p:cNvPr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4DF14B-1AE1-447F-BEC6-76B4771DDB02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Inferential Analysis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A26EA-14C8-BAE6-ACA4-0C1922CF3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641" y="1120612"/>
            <a:ext cx="5724781" cy="397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38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70432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0040" y="3886200"/>
          <a:ext cx="53035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897880" y="1170432"/>
            <a:ext cx="2926080" cy="2606040"/>
          </a:xfrm>
          <a:prstGeom prst="rect">
            <a:avLst/>
          </a:prstGeom>
          <a:solidFill>
            <a:srgbClr val="E6F7F7"/>
          </a:solidFill>
          <a:ln w="635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897880" y="1170432"/>
            <a:ext cx="64008" cy="2606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Model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80760" y="1645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Linear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080760" y="230428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= 0.9114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5.41 pts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detected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coefficient interpretability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= 0.9172 ± 0.008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97880" y="3886200"/>
            <a:ext cx="2926080" cy="1051560"/>
          </a:xfrm>
          <a:prstGeom prst="rect">
            <a:avLst/>
          </a:prstGeom>
          <a:solidFill>
            <a:srgbClr val="F0F5FA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35040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Predictions (MLR)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35040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company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863840" y="4279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3504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company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863840" y="4498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35040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company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863840" y="47183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358A5-3C81-8667-CCBE-307BDD96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E4436D-EE86-EAA8-A105-A51906C569D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F379B4-DADD-EBD0-4DFF-65B430F8E1AA}"/>
              </a:ext>
            </a:extLst>
          </p:cNvPr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2C5104-9214-AE76-9B06-FD89CC9261AD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</a:t>
            </a:r>
            <a:endParaRPr lang="en-US" sz="28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BD5F27C-D0DE-F659-4F10-E0A637680433}"/>
              </a:ext>
            </a:extLst>
          </p:cNvPr>
          <p:cNvGraphicFramePr/>
          <p:nvPr/>
        </p:nvGraphicFramePr>
        <p:xfrm>
          <a:off x="320040" y="1170432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FF74CEC6-7370-5568-A35E-EEBABBF81132}"/>
              </a:ext>
            </a:extLst>
          </p:cNvPr>
          <p:cNvGraphicFramePr/>
          <p:nvPr/>
        </p:nvGraphicFramePr>
        <p:xfrm>
          <a:off x="320040" y="3886200"/>
          <a:ext cx="53035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1F3D846-8748-E6DF-8F7D-1DE03D74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0432"/>
            <a:ext cx="9144000" cy="390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51760" cy="1115568"/>
          </a:xfrm>
          <a:prstGeom prst="rect">
            <a:avLst/>
          </a:prstGeom>
          <a:solidFill>
            <a:srgbClr val="E6F7F7"/>
          </a:solidFill>
          <a:ln w="635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0.954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Maturity vs Confidence)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651760" cy="1115568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91%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 Maturity Alone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170432"/>
            <a:ext cx="2651760" cy="1115568"/>
          </a:xfrm>
          <a:prstGeom prst="rect">
            <a:avLst/>
          </a:prstGeom>
          <a:solidFill>
            <a:srgbClr val="E6F7F7"/>
          </a:solidFill>
          <a:ln w="635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+38 pts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807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Data Access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20040" y="2468880"/>
          <a:ext cx="5577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6126480" y="246888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26480" y="2468880"/>
            <a:ext cx="64008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91072" y="25420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8 Tests Significant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91072" y="297180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r: +0.954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 R²: 91.0%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(Maturity): F=1059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(Real-Time): +38pt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(Data Team): +20pt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(KPI Freq): F=1002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 R²: 92.2%  ***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Test R²: 0.9114  ***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22860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412480" cy="1005840"/>
          </a:xfrm>
          <a:prstGeom prst="rect">
            <a:avLst/>
          </a:prstGeom>
          <a:solidFill>
            <a:srgbClr val="0D7377">
              <a:alpha val="90000"/>
            </a:srgbClr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86968"/>
            <a:ext cx="8138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CONFIRMED: Data-driven decision making significantly improves organizational confidence in business strategies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2743200" cy="19202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2743200" cy="36576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FF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statistical tests returned p &lt; 0.001. The relationship is real, consistent, and not due to chance.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2084832"/>
            <a:ext cx="2743200" cy="19202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2084832"/>
            <a:ext cx="2743200" cy="36576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FF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Magnitude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at Data Maturity Level 5 score 99.3% confidence vs 29.9% at Level 1 — a 69-point difference.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7064" y="2084832"/>
            <a:ext cx="2743200" cy="19202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27064" y="2084832"/>
            <a:ext cx="2743200" cy="36576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4224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FF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model predicts confidence with R²=91% and MAE of only 5.4 pts. Scenario forecasting is reliable.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54864"/>
          </a:xfrm>
          <a:prstGeom prst="rect">
            <a:avLst/>
          </a:prstGeom>
          <a:solidFill>
            <a:srgbClr val="14FFEC"/>
          </a:solidFill>
          <a:ln w="12700">
            <a:solidFill>
              <a:srgbClr val="14F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data maturity, analytics tools, real-time access, and executive training to drive organizational confidence.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1017</Words>
  <Application>Microsoft Office PowerPoint</Application>
  <PresentationFormat>On-screen Show (16:9)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Decision Making &amp; Organizational Confidence</dc:title>
  <dc:subject>PptxGenJS Presentation</dc:subject>
  <dc:creator>PptxGenJS</dc:creator>
  <cp:lastModifiedBy>tharini imalka</cp:lastModifiedBy>
  <cp:revision>4</cp:revision>
  <dcterms:created xsi:type="dcterms:W3CDTF">2026-04-25T13:57:40Z</dcterms:created>
  <dcterms:modified xsi:type="dcterms:W3CDTF">2026-04-26T09:36:11Z</dcterms:modified>
</cp:coreProperties>
</file>